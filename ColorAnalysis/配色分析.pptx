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FF00FF"/>
    <a:srgbClr val="FFFFFF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2464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962DF-B0D7-42B9-8E09-E55122119682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04330-27A5-4C42-984B-4FFB1CC031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656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962DF-B0D7-42B9-8E09-E55122119682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04330-27A5-4C42-984B-4FFB1CC031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846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962DF-B0D7-42B9-8E09-E55122119682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04330-27A5-4C42-984B-4FFB1CC031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254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962DF-B0D7-42B9-8E09-E55122119682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04330-27A5-4C42-984B-4FFB1CC031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389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962DF-B0D7-42B9-8E09-E55122119682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04330-27A5-4C42-984B-4FFB1CC031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082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962DF-B0D7-42B9-8E09-E55122119682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04330-27A5-4C42-984B-4FFB1CC031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872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962DF-B0D7-42B9-8E09-E55122119682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04330-27A5-4C42-984B-4FFB1CC031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951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962DF-B0D7-42B9-8E09-E55122119682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04330-27A5-4C42-984B-4FFB1CC031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62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962DF-B0D7-42B9-8E09-E55122119682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04330-27A5-4C42-984B-4FFB1CC031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558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962DF-B0D7-42B9-8E09-E55122119682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04330-27A5-4C42-984B-4FFB1CC031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810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962DF-B0D7-42B9-8E09-E55122119682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04330-27A5-4C42-984B-4FFB1CC031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122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F962DF-B0D7-42B9-8E09-E55122119682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04330-27A5-4C42-984B-4FFB1CC031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879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65835C6-1C4B-18C3-55B3-A0B598FD6DEA}"/>
              </a:ext>
            </a:extLst>
          </p:cNvPr>
          <p:cNvGrpSpPr/>
          <p:nvPr/>
        </p:nvGrpSpPr>
        <p:grpSpPr>
          <a:xfrm>
            <a:off x="0" y="0"/>
            <a:ext cx="6858000" cy="4572000"/>
            <a:chOff x="0" y="0"/>
            <a:chExt cx="6858000" cy="45720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DC9C833A-763A-E076-719E-2C2EA57C7B84}"/>
                </a:ext>
              </a:extLst>
            </p:cNvPr>
            <p:cNvSpPr/>
            <p:nvPr/>
          </p:nvSpPr>
          <p:spPr>
            <a:xfrm>
              <a:off x="0" y="0"/>
              <a:ext cx="6858000" cy="457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0" b="1" dirty="0">
                  <a:solidFill>
                    <a:srgbClr val="111111"/>
                  </a:solidFill>
                  <a:latin typeface="等距更纱黑体 SC" panose="02000809000000000000" pitchFamily="49" charset="-122"/>
                  <a:ea typeface="等距更纱黑体 SC" panose="02000809000000000000" pitchFamily="49" charset="-122"/>
                </a:rPr>
                <a:t>科研绘图</a:t>
              </a:r>
              <a:endParaRPr lang="en-US" altLang="zh-CN" sz="8000" b="1" dirty="0">
                <a:solidFill>
                  <a:srgbClr val="111111"/>
                </a:solidFill>
                <a:latin typeface="等距更纱黑体 SC" panose="02000809000000000000" pitchFamily="49" charset="-122"/>
                <a:ea typeface="等距更纱黑体 SC" panose="02000809000000000000" pitchFamily="49" charset="-122"/>
              </a:endParaRPr>
            </a:p>
            <a:p>
              <a:pPr algn="ctr"/>
              <a:r>
                <a:rPr lang="zh-CN" altLang="en-US" sz="8000" b="1" dirty="0">
                  <a:solidFill>
                    <a:srgbClr val="111111"/>
                  </a:solidFill>
                  <a:latin typeface="等距更纱黑体 SC" panose="02000809000000000000" pitchFamily="49" charset="-122"/>
                  <a:ea typeface="等距更纱黑体 SC" panose="02000809000000000000" pitchFamily="49" charset="-122"/>
                </a:rPr>
                <a:t>配色避坑分析</a:t>
              </a:r>
              <a:endParaRPr lang="en-US" altLang="zh-CN" sz="8000" b="1" dirty="0">
                <a:solidFill>
                  <a:srgbClr val="111111"/>
                </a:solidFill>
                <a:latin typeface="等距更纱黑体 SC" panose="02000809000000000000" pitchFamily="49" charset="-122"/>
                <a:ea typeface="等距更纱黑体 SC" panose="02000809000000000000" pitchFamily="49" charset="-122"/>
              </a:endParaRPr>
            </a:p>
            <a:p>
              <a:pPr algn="ctr"/>
              <a:endParaRPr lang="zh-CN" altLang="en-US" sz="8000" dirty="0">
                <a:solidFill>
                  <a:srgbClr val="111111"/>
                </a:solidFill>
              </a:endParaRPr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64B4F703-7D0A-675E-542A-7E05F880ED0E}"/>
                </a:ext>
              </a:extLst>
            </p:cNvPr>
            <p:cNvSpPr/>
            <p:nvPr/>
          </p:nvSpPr>
          <p:spPr>
            <a:xfrm>
              <a:off x="1848775" y="3116062"/>
              <a:ext cx="3160450" cy="1012055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EB784325-D720-6E2F-D993-15D9F18A1B3B}"/>
              </a:ext>
            </a:extLst>
          </p:cNvPr>
          <p:cNvGrpSpPr/>
          <p:nvPr/>
        </p:nvGrpSpPr>
        <p:grpSpPr>
          <a:xfrm>
            <a:off x="0" y="4572000"/>
            <a:ext cx="6858000" cy="4572000"/>
            <a:chOff x="0" y="0"/>
            <a:chExt cx="6858000" cy="4572000"/>
          </a:xfrm>
          <a:solidFill>
            <a:srgbClr val="FF00FF"/>
          </a:solidFill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B42370B-5385-BC0F-F6FE-B4A478F7D12B}"/>
                </a:ext>
              </a:extLst>
            </p:cNvPr>
            <p:cNvSpPr/>
            <p:nvPr/>
          </p:nvSpPr>
          <p:spPr>
            <a:xfrm>
              <a:off x="0" y="0"/>
              <a:ext cx="6858000" cy="45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0" b="1" dirty="0">
                  <a:solidFill>
                    <a:srgbClr val="00FFFF"/>
                  </a:solidFill>
                  <a:latin typeface="等距更纱黑体 SC" panose="02000809000000000000" pitchFamily="49" charset="-122"/>
                  <a:ea typeface="等距更纱黑体 SC" panose="02000809000000000000" pitchFamily="49" charset="-122"/>
                </a:rPr>
                <a:t>科研绘图</a:t>
              </a:r>
              <a:endParaRPr lang="en-US" altLang="zh-CN" sz="8000" b="1" dirty="0">
                <a:solidFill>
                  <a:srgbClr val="00FFFF"/>
                </a:solidFill>
                <a:latin typeface="等距更纱黑体 SC" panose="02000809000000000000" pitchFamily="49" charset="-122"/>
                <a:ea typeface="等距更纱黑体 SC" panose="02000809000000000000" pitchFamily="49" charset="-122"/>
              </a:endParaRPr>
            </a:p>
            <a:p>
              <a:pPr algn="ctr"/>
              <a:r>
                <a:rPr lang="zh-CN" altLang="en-US" sz="8000" b="1" dirty="0">
                  <a:solidFill>
                    <a:srgbClr val="00FFFF"/>
                  </a:solidFill>
                  <a:latin typeface="等距更纱黑体 SC" panose="02000809000000000000" pitchFamily="49" charset="-122"/>
                  <a:ea typeface="等距更纱黑体 SC" panose="02000809000000000000" pitchFamily="49" charset="-122"/>
                </a:rPr>
                <a:t>配色避坑分析</a:t>
              </a:r>
              <a:endParaRPr lang="en-US" altLang="zh-CN" sz="8000" b="1" dirty="0">
                <a:solidFill>
                  <a:srgbClr val="00FFFF"/>
                </a:solidFill>
                <a:latin typeface="等距更纱黑体 SC" panose="02000809000000000000" pitchFamily="49" charset="-122"/>
                <a:ea typeface="等距更纱黑体 SC" panose="02000809000000000000" pitchFamily="49" charset="-122"/>
              </a:endParaRPr>
            </a:p>
            <a:p>
              <a:pPr algn="ctr"/>
              <a:endParaRPr lang="zh-CN" altLang="en-US" sz="8000" dirty="0">
                <a:solidFill>
                  <a:srgbClr val="111111"/>
                </a:solidFill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1709662D-A183-2994-5E05-0808EF271C7E}"/>
                </a:ext>
              </a:extLst>
            </p:cNvPr>
            <p:cNvSpPr/>
            <p:nvPr/>
          </p:nvSpPr>
          <p:spPr>
            <a:xfrm>
              <a:off x="1848775" y="3116062"/>
              <a:ext cx="3160450" cy="1012055"/>
            </a:xfrm>
            <a:prstGeom prst="ellipse">
              <a:avLst/>
            </a:prstGeom>
            <a:solidFill>
              <a:srgbClr val="00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61072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48187-1FA5-663F-F3BE-62F9DD4D4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9864C17-701F-09FB-CC55-7D136ADFAB5D}"/>
              </a:ext>
            </a:extLst>
          </p:cNvPr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0" b="1" dirty="0">
                <a:solidFill>
                  <a:srgbClr val="111111"/>
                </a:solidFill>
                <a:latin typeface="等距更纱黑体 SC" panose="02000809000000000000" pitchFamily="49" charset="-122"/>
                <a:ea typeface="等距更纱黑体 SC" panose="02000809000000000000" pitchFamily="49" charset="-122"/>
              </a:rPr>
              <a:t>遇到了瞎眼的配色</a:t>
            </a:r>
            <a:endParaRPr lang="en-US" altLang="zh-CN" sz="6000" b="1" dirty="0">
              <a:solidFill>
                <a:srgbClr val="111111"/>
              </a:solidFill>
              <a:latin typeface="等距更纱黑体 SC" panose="02000809000000000000" pitchFamily="49" charset="-122"/>
              <a:ea typeface="等距更纱黑体 SC" panose="02000809000000000000" pitchFamily="49" charset="-122"/>
            </a:endParaRPr>
          </a:p>
          <a:p>
            <a:pPr algn="ctr"/>
            <a:r>
              <a:rPr lang="zh-CN" altLang="en-US" sz="6000" b="1" dirty="0">
                <a:solidFill>
                  <a:srgbClr val="FF00FF"/>
                </a:solidFill>
                <a:latin typeface="等距更纱黑体 SC" panose="02000809000000000000" pitchFamily="49" charset="-122"/>
                <a:ea typeface="等距更纱黑体 SC" panose="02000809000000000000" pitchFamily="49" charset="-122"/>
              </a:rPr>
              <a:t>洋红</a:t>
            </a:r>
            <a:r>
              <a:rPr lang="en-US" altLang="zh-CN" sz="6000" b="1" dirty="0">
                <a:solidFill>
                  <a:srgbClr val="111111"/>
                </a:solidFill>
                <a:latin typeface="等距更纱黑体 SC" panose="02000809000000000000" pitchFamily="49" charset="-122"/>
                <a:ea typeface="等距更纱黑体 SC" panose="02000809000000000000" pitchFamily="49" charset="-122"/>
              </a:rPr>
              <a:t>×</a:t>
            </a:r>
            <a:r>
              <a:rPr lang="zh-CN" altLang="en-US" sz="6000" b="1" dirty="0">
                <a:solidFill>
                  <a:srgbClr val="00FFFF"/>
                </a:solidFill>
                <a:latin typeface="等距更纱黑体 SC" panose="02000809000000000000" pitchFamily="49" charset="-122"/>
                <a:ea typeface="等距更纱黑体 SC" panose="02000809000000000000" pitchFamily="49" charset="-122"/>
              </a:rPr>
              <a:t>青</a:t>
            </a:r>
            <a:endParaRPr lang="en-US" altLang="zh-CN" sz="6000" b="1" dirty="0">
              <a:solidFill>
                <a:srgbClr val="00FFFF"/>
              </a:solidFill>
              <a:latin typeface="等距更纱黑体 SC" panose="02000809000000000000" pitchFamily="49" charset="-122"/>
              <a:ea typeface="等距更纱黑体 SC" panose="02000809000000000000" pitchFamily="49" charset="-122"/>
            </a:endParaRPr>
          </a:p>
          <a:p>
            <a:pPr algn="ctr"/>
            <a:r>
              <a:rPr lang="zh-CN" altLang="en-US" sz="6000" b="1" dirty="0">
                <a:solidFill>
                  <a:srgbClr val="111111"/>
                </a:solidFill>
                <a:latin typeface="等距更纱黑体 SC" panose="02000809000000000000" pitchFamily="49" charset="-122"/>
                <a:ea typeface="等距更纱黑体 SC" panose="02000809000000000000" pitchFamily="49" charset="-122"/>
              </a:rPr>
              <a:t>准备研究一下</a:t>
            </a:r>
            <a:endParaRPr lang="en-US" altLang="zh-CN" sz="6000" b="1" dirty="0">
              <a:solidFill>
                <a:srgbClr val="111111"/>
              </a:solidFill>
              <a:latin typeface="等距更纱黑体 SC" panose="02000809000000000000" pitchFamily="49" charset="-122"/>
              <a:ea typeface="等距更纱黑体 SC" panose="02000809000000000000" pitchFamily="49" charset="-122"/>
            </a:endParaRPr>
          </a:p>
          <a:p>
            <a:pPr algn="ctr"/>
            <a:r>
              <a:rPr lang="zh-CN" altLang="en-US" sz="6000" b="1" dirty="0">
                <a:solidFill>
                  <a:srgbClr val="111111"/>
                </a:solidFill>
                <a:latin typeface="等距更纱黑体 SC" panose="02000809000000000000" pitchFamily="49" charset="-122"/>
                <a:ea typeface="等距更纱黑体 SC" panose="02000809000000000000" pitchFamily="49" charset="-122"/>
              </a:rPr>
              <a:t>为何这种配色</a:t>
            </a:r>
            <a:endParaRPr lang="en-US" altLang="zh-CN" sz="6000" b="1" dirty="0">
              <a:solidFill>
                <a:srgbClr val="111111"/>
              </a:solidFill>
              <a:latin typeface="等距更纱黑体 SC" panose="02000809000000000000" pitchFamily="49" charset="-122"/>
              <a:ea typeface="等距更纱黑体 SC" panose="02000809000000000000" pitchFamily="49" charset="-122"/>
            </a:endParaRPr>
          </a:p>
          <a:p>
            <a:pPr algn="ctr"/>
            <a:r>
              <a:rPr lang="zh-CN" altLang="en-US" sz="6000" b="1" dirty="0">
                <a:solidFill>
                  <a:srgbClr val="111111"/>
                </a:solidFill>
                <a:latin typeface="等距更纱黑体 SC" panose="02000809000000000000" pitchFamily="49" charset="-122"/>
                <a:ea typeface="等距更纱黑体 SC" panose="02000809000000000000" pitchFamily="49" charset="-122"/>
              </a:rPr>
              <a:t>不舒服</a:t>
            </a:r>
            <a:endParaRPr lang="en-US" altLang="zh-CN" sz="6000" b="1" dirty="0">
              <a:solidFill>
                <a:srgbClr val="111111"/>
              </a:solidFill>
              <a:latin typeface="等距更纱黑体 SC" panose="02000809000000000000" pitchFamily="49" charset="-122"/>
              <a:ea typeface="等距更纱黑体 SC" panose="02000809000000000000" pitchFamily="49" charset="-122"/>
            </a:endParaRPr>
          </a:p>
          <a:p>
            <a:pPr algn="ctr"/>
            <a:r>
              <a:rPr lang="zh-CN" altLang="en-US" sz="6000" b="1" dirty="0">
                <a:solidFill>
                  <a:srgbClr val="111111"/>
                </a:solidFill>
                <a:latin typeface="等距更纱黑体 SC" panose="02000809000000000000" pitchFamily="49" charset="-122"/>
                <a:ea typeface="等距更纱黑体 SC" panose="02000809000000000000" pitchFamily="49" charset="-122"/>
              </a:rPr>
              <a:t>还有哪些</a:t>
            </a:r>
            <a:endParaRPr lang="en-US" altLang="zh-CN" sz="6000" b="1" dirty="0">
              <a:solidFill>
                <a:srgbClr val="111111"/>
              </a:solidFill>
              <a:latin typeface="等距更纱黑体 SC" panose="02000809000000000000" pitchFamily="49" charset="-122"/>
              <a:ea typeface="等距更纱黑体 SC" panose="02000809000000000000" pitchFamily="49" charset="-122"/>
            </a:endParaRPr>
          </a:p>
          <a:p>
            <a:pPr algn="ctr"/>
            <a:r>
              <a:rPr lang="zh-CN" altLang="en-US" sz="6000" b="1" dirty="0">
                <a:solidFill>
                  <a:srgbClr val="111111"/>
                </a:solidFill>
                <a:latin typeface="等距更纱黑体 SC" panose="02000809000000000000" pitchFamily="49" charset="-122"/>
                <a:ea typeface="等距更纱黑体 SC" panose="02000809000000000000" pitchFamily="49" charset="-122"/>
              </a:rPr>
              <a:t>不舒服配色</a:t>
            </a:r>
            <a:endParaRPr lang="en-US" altLang="zh-CN" sz="6000" b="1" dirty="0">
              <a:solidFill>
                <a:srgbClr val="111111"/>
              </a:solidFill>
              <a:latin typeface="等距更纱黑体 SC" panose="02000809000000000000" pitchFamily="49" charset="-122"/>
              <a:ea typeface="等距更纱黑体 SC" panose="02000809000000000000" pitchFamily="49" charset="-122"/>
            </a:endParaRPr>
          </a:p>
          <a:p>
            <a:pPr algn="ctr"/>
            <a:r>
              <a:rPr lang="zh-CN" altLang="en-US" sz="6000" b="1" dirty="0">
                <a:solidFill>
                  <a:srgbClr val="111111"/>
                </a:solidFill>
                <a:latin typeface="等距更纱黑体 SC" panose="02000809000000000000" pitchFamily="49" charset="-122"/>
                <a:ea typeface="等距更纱黑体 SC" panose="02000809000000000000" pitchFamily="49" charset="-122"/>
              </a:rPr>
              <a:t>如何反推舒服配色</a:t>
            </a:r>
            <a:endParaRPr lang="en-US" altLang="zh-CN" sz="5400" b="1" dirty="0">
              <a:solidFill>
                <a:srgbClr val="111111"/>
              </a:solidFill>
              <a:latin typeface="等距更纱黑体 SC" panose="02000809000000000000" pitchFamily="49" charset="-122"/>
              <a:ea typeface="等距更纱黑体 SC" panose="020008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8949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D399CC-B2D8-8B58-0B0E-77E652853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75FA585-21D5-A353-2D02-F5D00CA3F1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6858000" cy="9144000"/>
          </a:xfrm>
        </p:spPr>
      </p:pic>
    </p:spTree>
    <p:extLst>
      <p:ext uri="{BB962C8B-B14F-4D97-AF65-F5344CB8AC3E}">
        <p14:creationId xmlns:p14="http://schemas.microsoft.com/office/powerpoint/2010/main" val="3312113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DE54F-170F-1151-52C2-1CE8D96CB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6FD5AE-B9E1-1AB7-733E-3E9D6199D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9A12992-BBC0-CA9E-ED8B-CE839E202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FA41FF5-E9B3-1FDE-38DB-6E6523622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406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67243-A69C-CD15-BA54-E64A2DFC2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9074AE-FFC9-705F-29BF-F37669A4F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5EBEB4F-5E60-30F4-0C1C-1B9DC7215D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2A03AC6-AB42-9FCB-35DD-434D01342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764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C26F5-D923-C430-5676-B1163BC8D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337CE6-3B58-DC32-E247-A61FFCD45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884FDD6-2051-42E2-2E16-9007A31E85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6FEA2F-C504-9AE3-CFCA-76B075C96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816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D7705-CBAC-491E-F319-D993ED4BC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48E1E9-B4DB-DD2D-AC14-444D21D53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D1F774F-8D1A-7F93-938F-B726736670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55BDF1-E6E0-AD59-5D40-2D566409B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5739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A749D-B51B-983E-D08F-72CB9973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BC875A-311C-5A6E-C424-6591626F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24D0D25-69FE-8025-0075-5F397C2BD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39CBB5-B73B-F9F3-CA4B-11A2C2AFD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14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1168D-1D97-4D5C-EAB6-DDCEE3BE9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88A654-BBBB-C694-74EB-D9885669B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BBF13875-4520-7880-D977-936F4241F7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B2F75E-88CF-0402-661D-FAA208B58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422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70F0AF-4D09-46B0-B80C-D9F1664C9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5DC82AE-3EBA-CE3D-A8A3-43FD3E7EA5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1" cy="9144000"/>
          </a:xfrm>
        </p:spPr>
      </p:pic>
    </p:spTree>
    <p:extLst>
      <p:ext uri="{BB962C8B-B14F-4D97-AF65-F5344CB8AC3E}">
        <p14:creationId xmlns:p14="http://schemas.microsoft.com/office/powerpoint/2010/main" val="2212193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136DCD-D256-4EB9-405B-CECF34654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8B993D5-1740-8608-294A-902673F938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144000"/>
          </a:xfrm>
        </p:spPr>
      </p:pic>
    </p:spTree>
    <p:extLst>
      <p:ext uri="{BB962C8B-B14F-4D97-AF65-F5344CB8AC3E}">
        <p14:creationId xmlns:p14="http://schemas.microsoft.com/office/powerpoint/2010/main" val="3924372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2">
      <a:dk1>
        <a:sysClr val="windowText" lastClr="000000"/>
      </a:dk1>
      <a:lt1>
        <a:sysClr val="window" lastClr="FFFFFF"/>
      </a:lt1>
      <a:dk2>
        <a:srgbClr val="F14124"/>
      </a:dk2>
      <a:lt2>
        <a:srgbClr val="E32D91"/>
      </a:lt2>
      <a:accent1>
        <a:srgbClr val="FF8021"/>
      </a:accent1>
      <a:accent2>
        <a:srgbClr val="FFCA08"/>
      </a:accent2>
      <a:accent3>
        <a:srgbClr val="A7EA52"/>
      </a:accent3>
      <a:accent4>
        <a:srgbClr val="0BD0D9"/>
      </a:accent4>
      <a:accent5>
        <a:srgbClr val="5ECCF3"/>
      </a:accent5>
      <a:accent6>
        <a:srgbClr val="9B57D3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</TotalTime>
  <Words>36</Words>
  <Application>Microsoft Office PowerPoint</Application>
  <PresentationFormat>全屏显示(4:3)</PresentationFormat>
  <Paragraphs>12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等距更纱黑体 SC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旭霖 李</dc:creator>
  <cp:lastModifiedBy>旭霖 李</cp:lastModifiedBy>
  <cp:revision>6</cp:revision>
  <dcterms:created xsi:type="dcterms:W3CDTF">2026-06-10T17:51:09Z</dcterms:created>
  <dcterms:modified xsi:type="dcterms:W3CDTF">2026-06-11T11:29:19Z</dcterms:modified>
</cp:coreProperties>
</file>